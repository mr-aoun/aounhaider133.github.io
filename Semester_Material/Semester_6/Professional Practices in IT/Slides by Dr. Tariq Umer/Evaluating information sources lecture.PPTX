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9" r:id="rId11"/>
    <p:sldId id="270" r:id="rId12"/>
    <p:sldId id="265" r:id="rId13"/>
    <p:sldId id="266" r:id="rId14"/>
    <p:sldId id="267" r:id="rId15"/>
    <p:sldId id="268" r:id="rId16"/>
    <p:sldId id="274" r:id="rId17"/>
    <p:sldId id="275" r:id="rId18"/>
    <p:sldId id="276"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7F63C6-4AAD-4541-989C-FC3384EC046C}" type="datetimeFigureOut">
              <a:rPr lang="en-US" smtClean="0"/>
              <a:t>12/1/2021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7E8BCF-26B0-45E8-B9BA-C2752B21F421}" type="slidenum">
              <a:rPr lang="en-US" smtClean="0"/>
              <a:t>‹#›</a:t>
            </a:fld>
            <a:endParaRPr lang="en-US"/>
          </a:p>
        </p:txBody>
      </p:sp>
    </p:spTree>
    <p:extLst>
      <p:ext uri="{BB962C8B-B14F-4D97-AF65-F5344CB8AC3E}">
        <p14:creationId xmlns:p14="http://schemas.microsoft.com/office/powerpoint/2010/main" val="279252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7E8BCF-26B0-45E8-B9BA-C2752B21F421}" type="slidenum">
              <a:rPr lang="en-US" smtClean="0"/>
              <a:t>5</a:t>
            </a:fld>
            <a:endParaRPr lang="en-US"/>
          </a:p>
        </p:txBody>
      </p:sp>
    </p:spTree>
    <p:extLst>
      <p:ext uri="{BB962C8B-B14F-4D97-AF65-F5344CB8AC3E}">
        <p14:creationId xmlns:p14="http://schemas.microsoft.com/office/powerpoint/2010/main" val="515354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12/1/2021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12/1/2021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
            </a:r>
            <a:br>
              <a:rPr lang="en-US" dirty="0" smtClean="0"/>
            </a:br>
            <a:r>
              <a:rPr lang="en-US" dirty="0" smtClean="0"/>
              <a:t>Evaluating information and technology.</a:t>
            </a:r>
            <a:br>
              <a:rPr lang="en-US" dirty="0" smtClean="0"/>
            </a:br>
            <a:r>
              <a:rPr lang="en-US" dirty="0" smtClean="0"/>
              <a:t>How to evaluate web sources</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12611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sz="quarter" idx="1"/>
          </p:nvPr>
        </p:nvSpPr>
        <p:spPr/>
        <p:txBody>
          <a:bodyPr/>
          <a:lstStyle/>
          <a:p>
            <a:r>
              <a:rPr lang="en-US" dirty="0"/>
              <a:t>Today, information and technology have become integral parts of our lives</a:t>
            </a:r>
            <a:r>
              <a:rPr lang="en-US" dirty="0" smtClean="0"/>
              <a:t>;</a:t>
            </a:r>
          </a:p>
          <a:p>
            <a:r>
              <a:rPr lang="en-US" dirty="0" smtClean="0"/>
              <a:t>Technology </a:t>
            </a:r>
            <a:r>
              <a:rPr lang="en-US" dirty="0"/>
              <a:t>is so deeply embedded into our lives that we cannot imagine a world without technology and </a:t>
            </a:r>
            <a:r>
              <a:rPr lang="en-US" dirty="0" smtClean="0"/>
              <a:t>information.</a:t>
            </a:r>
          </a:p>
          <a:p>
            <a:r>
              <a:rPr lang="en-US" dirty="0" smtClean="0"/>
              <a:t>It </a:t>
            </a:r>
            <a:r>
              <a:rPr lang="en-US" dirty="0"/>
              <a:t>is almost scary to think the level of dependence that we have on technology in today’s world. In this world filled with information, it is very important to identify correct information from false or fabricated information. This document will help us move towards that direction.</a:t>
            </a:r>
          </a:p>
          <a:p>
            <a:endParaRPr lang="en-US" dirty="0"/>
          </a:p>
        </p:txBody>
      </p:sp>
    </p:spTree>
    <p:extLst>
      <p:ext uri="{BB962C8B-B14F-4D97-AF65-F5344CB8AC3E}">
        <p14:creationId xmlns:p14="http://schemas.microsoft.com/office/powerpoint/2010/main" val="84720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Continued….</a:t>
            </a:r>
            <a:r>
              <a:rPr lang="en-US" dirty="0" smtClean="0"/>
              <a:t/>
            </a:r>
            <a:br>
              <a:rPr lang="en-US" dirty="0" smtClean="0"/>
            </a:br>
            <a:r>
              <a:rPr lang="en-US" sz="3100" dirty="0"/>
              <a:t>Importance of information</a:t>
            </a:r>
            <a:r>
              <a:rPr lang="en-US" sz="4400" dirty="0"/>
              <a:t>	</a:t>
            </a:r>
            <a:endParaRPr lang="en-US" dirty="0"/>
          </a:p>
        </p:txBody>
      </p:sp>
      <p:sp>
        <p:nvSpPr>
          <p:cNvPr id="3" name="Content Placeholder 2"/>
          <p:cNvSpPr>
            <a:spLocks noGrp="1"/>
          </p:cNvSpPr>
          <p:nvPr>
            <p:ph sz="quarter" idx="1"/>
          </p:nvPr>
        </p:nvSpPr>
        <p:spPr/>
        <p:txBody>
          <a:bodyPr/>
          <a:lstStyle/>
          <a:p>
            <a:r>
              <a:rPr lang="en-US" dirty="0"/>
              <a:t>Information is an asset and is an integral part of our day to day </a:t>
            </a:r>
            <a:r>
              <a:rPr lang="en-US" dirty="0" smtClean="0"/>
              <a:t>life</a:t>
            </a:r>
            <a:r>
              <a:rPr lang="en-US" dirty="0"/>
              <a:t>.</a:t>
            </a:r>
            <a:r>
              <a:rPr lang="en-US" dirty="0" smtClean="0"/>
              <a:t> </a:t>
            </a:r>
          </a:p>
          <a:p>
            <a:r>
              <a:rPr lang="en-US" dirty="0"/>
              <a:t>W</a:t>
            </a:r>
            <a:r>
              <a:rPr lang="en-US" dirty="0" smtClean="0"/>
              <a:t>e </a:t>
            </a:r>
            <a:r>
              <a:rPr lang="en-US" dirty="0"/>
              <a:t>rely on information throughout the day, be it searching for some restaurant or maybe solving an assignment or reading news. </a:t>
            </a:r>
            <a:endParaRPr lang="en-US" dirty="0" smtClean="0"/>
          </a:p>
          <a:p>
            <a:r>
              <a:rPr lang="en-US" dirty="0" smtClean="0"/>
              <a:t>Information </a:t>
            </a:r>
            <a:r>
              <a:rPr lang="en-US" dirty="0"/>
              <a:t>is spread everywhere due to the web and thus almost half of the global population has access to that information, now the point to consider here is that the information that is available to almost half of the global population should be accurate and precise.</a:t>
            </a:r>
          </a:p>
          <a:p>
            <a:pPr marL="0" indent="0">
              <a:buNone/>
            </a:pPr>
            <a:endParaRPr lang="en-US" dirty="0"/>
          </a:p>
        </p:txBody>
      </p:sp>
    </p:spTree>
    <p:extLst>
      <p:ext uri="{BB962C8B-B14F-4D97-AF65-F5344CB8AC3E}">
        <p14:creationId xmlns:p14="http://schemas.microsoft.com/office/powerpoint/2010/main" val="3074398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Continued…</a:t>
            </a:r>
            <a:br>
              <a:rPr lang="en-US" b="1" dirty="0" smtClean="0"/>
            </a:br>
            <a:r>
              <a:rPr lang="en-US" sz="3100" dirty="0"/>
              <a:t>Technology and information’s relation</a:t>
            </a:r>
            <a:endParaRPr lang="en-US" b="1" dirty="0"/>
          </a:p>
        </p:txBody>
      </p:sp>
      <p:sp>
        <p:nvSpPr>
          <p:cNvPr id="3" name="Content Placeholder 2"/>
          <p:cNvSpPr>
            <a:spLocks noGrp="1"/>
          </p:cNvSpPr>
          <p:nvPr>
            <p:ph sz="quarter" idx="1"/>
          </p:nvPr>
        </p:nvSpPr>
        <p:spPr/>
        <p:txBody>
          <a:bodyPr>
            <a:normAutofit lnSpcReduction="10000"/>
          </a:bodyPr>
          <a:lstStyle/>
          <a:p>
            <a:r>
              <a:rPr lang="en-US" dirty="0"/>
              <a:t>Today, almost all kind of information is available on the web for the masses and the only way that information can be accessed is by using some sort of computer, smartphone or maybe some other technologic al device. </a:t>
            </a:r>
          </a:p>
          <a:p>
            <a:r>
              <a:rPr lang="en-US" dirty="0"/>
              <a:t>I</a:t>
            </a:r>
            <a:r>
              <a:rPr lang="en-US" dirty="0" smtClean="0"/>
              <a:t>n </a:t>
            </a:r>
            <a:r>
              <a:rPr lang="en-US" dirty="0"/>
              <a:t>the end it is safe to say that technology and information are closely bonded because information is on the web and web in itself is a technology. </a:t>
            </a:r>
            <a:endParaRPr lang="en-US" dirty="0" smtClean="0"/>
          </a:p>
          <a:p>
            <a:r>
              <a:rPr lang="en-US" dirty="0" smtClean="0"/>
              <a:t>Now</a:t>
            </a:r>
            <a:r>
              <a:rPr lang="en-US" dirty="0"/>
              <a:t>, the only problem left is the vastness of web, a novice user may not be able to identify safe websites from the fabricated ones; we are going to discuss this in further detail below.</a:t>
            </a:r>
          </a:p>
          <a:p>
            <a:pPr marL="0" indent="0">
              <a:buNone/>
            </a:pPr>
            <a:endParaRPr lang="en-US" dirty="0"/>
          </a:p>
        </p:txBody>
      </p:sp>
    </p:spTree>
    <p:extLst>
      <p:ext uri="{BB962C8B-B14F-4D97-AF65-F5344CB8AC3E}">
        <p14:creationId xmlns:p14="http://schemas.microsoft.com/office/powerpoint/2010/main" val="3783804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r>
              <a:rPr lang="en-US" dirty="0"/>
              <a:t>There is also a fact that out of the 7.53 billion population of the </a:t>
            </a:r>
            <a:r>
              <a:rPr lang="en-US" dirty="0" smtClean="0"/>
              <a:t>world, </a:t>
            </a:r>
            <a:r>
              <a:rPr lang="en-US" dirty="0"/>
              <a:t>currently almost 48.6 </a:t>
            </a:r>
            <a:r>
              <a:rPr lang="en-US" dirty="0" smtClean="0"/>
              <a:t>percent </a:t>
            </a:r>
            <a:r>
              <a:rPr lang="en-US" dirty="0"/>
              <a:t>people have access to internet and this much population is already causing management issues such as spread of false news and spread of viruses by certain </a:t>
            </a:r>
            <a:r>
              <a:rPr lang="en-US" dirty="0" smtClean="0"/>
              <a:t>users</a:t>
            </a:r>
            <a:r>
              <a:rPr lang="en-US" dirty="0"/>
              <a:t>.</a:t>
            </a:r>
            <a:r>
              <a:rPr lang="en-US" dirty="0" smtClean="0"/>
              <a:t> </a:t>
            </a:r>
          </a:p>
          <a:p>
            <a:r>
              <a:rPr lang="en-US" dirty="0"/>
              <a:t>A</a:t>
            </a:r>
            <a:r>
              <a:rPr lang="en-US" dirty="0" smtClean="0"/>
              <a:t> </a:t>
            </a:r>
            <a:r>
              <a:rPr lang="en-US" dirty="0"/>
              <a:t>plan needs to be made for the other people who will be joining the internet. That plan should contain that how information will be provided to them and also the checks that will be applied to make sure that they are provided with the correct and latest information</a:t>
            </a:r>
            <a:r>
              <a:rPr lang="en-US" dirty="0" smtClean="0"/>
              <a:t>.</a:t>
            </a:r>
            <a:endParaRPr lang="en-US" dirty="0"/>
          </a:p>
          <a:p>
            <a:endParaRPr lang="en-US" dirty="0"/>
          </a:p>
        </p:txBody>
      </p:sp>
    </p:spTree>
    <p:extLst>
      <p:ext uri="{BB962C8B-B14F-4D97-AF65-F5344CB8AC3E}">
        <p14:creationId xmlns:p14="http://schemas.microsoft.com/office/powerpoint/2010/main" val="378438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Judging Information on the web</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There is abundance of information available on the web, you just need to search a word and you will find millions of search results for that.</a:t>
            </a:r>
          </a:p>
          <a:p>
            <a:r>
              <a:rPr lang="en-US" dirty="0" smtClean="0"/>
              <a:t>This abundance of information on one hand is very useful but on the other hand also poses a major problem, it is very difficult for normal people to identify that which information is correct and which is not correct.</a:t>
            </a:r>
          </a:p>
          <a:p>
            <a:r>
              <a:rPr lang="en-US" dirty="0" smtClean="0"/>
              <a:t>If a person is trying to search for some information then he needs to be able to identify safe sources which can provide correct and verified information to the users of the web throughout the world.</a:t>
            </a:r>
            <a:endParaRPr lang="en-US" dirty="0"/>
          </a:p>
        </p:txBody>
      </p:sp>
    </p:spTree>
    <p:extLst>
      <p:ext uri="{BB962C8B-B14F-4D97-AF65-F5344CB8AC3E}">
        <p14:creationId xmlns:p14="http://schemas.microsoft.com/office/powerpoint/2010/main" val="393058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Continued…</a:t>
            </a:r>
            <a:br>
              <a:rPr lang="en-US" b="1" dirty="0" smtClean="0"/>
            </a:br>
            <a:r>
              <a:rPr lang="en-US" sz="3100" dirty="0" smtClean="0"/>
              <a:t>Types of information on the web</a:t>
            </a:r>
            <a:endParaRPr lang="en-US" b="1" dirty="0"/>
          </a:p>
        </p:txBody>
      </p:sp>
      <p:sp>
        <p:nvSpPr>
          <p:cNvPr id="3" name="Content Placeholder 2"/>
          <p:cNvSpPr>
            <a:spLocks noGrp="1"/>
          </p:cNvSpPr>
          <p:nvPr>
            <p:ph sz="quarter" idx="1"/>
          </p:nvPr>
        </p:nvSpPr>
        <p:spPr/>
        <p:txBody>
          <a:bodyPr/>
          <a:lstStyle/>
          <a:p>
            <a:r>
              <a:rPr lang="en-US" dirty="0"/>
              <a:t>Web is filled with information and vast amount of that information is not correct, we need to be able to identify current information, but first we will see the types of information available on the </a:t>
            </a:r>
            <a:r>
              <a:rPr lang="en-US" dirty="0" smtClean="0"/>
              <a:t>web:</a:t>
            </a:r>
          </a:p>
          <a:p>
            <a:pPr marL="0" indent="0">
              <a:buNone/>
            </a:pPr>
            <a:r>
              <a:rPr lang="en-US" b="1" dirty="0" smtClean="0"/>
              <a:t>Types of information;</a:t>
            </a:r>
          </a:p>
          <a:p>
            <a:pPr marL="0" indent="0">
              <a:buNone/>
            </a:pPr>
            <a:r>
              <a:rPr lang="en-US" b="1" dirty="0" smtClean="0"/>
              <a:t>Verified Information/Correct Information:</a:t>
            </a:r>
          </a:p>
          <a:p>
            <a:r>
              <a:rPr lang="en-US" dirty="0" smtClean="0"/>
              <a:t>This type of information is always demanded and is the ideal result that someone is looking for, this information also becomes quite rare when searching for a particular problem.</a:t>
            </a:r>
            <a:endParaRPr lang="en-US" b="1" dirty="0" smtClean="0"/>
          </a:p>
          <a:p>
            <a:pPr marL="0" indent="0">
              <a:buNone/>
            </a:pPr>
            <a:endParaRPr lang="en-US" b="1" dirty="0"/>
          </a:p>
          <a:p>
            <a:endParaRPr lang="en-US" dirty="0"/>
          </a:p>
        </p:txBody>
      </p:sp>
    </p:spTree>
    <p:extLst>
      <p:ext uri="{BB962C8B-B14F-4D97-AF65-F5344CB8AC3E}">
        <p14:creationId xmlns:p14="http://schemas.microsoft.com/office/powerpoint/2010/main" val="289871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pPr marL="0" indent="0">
              <a:buNone/>
            </a:pPr>
            <a:r>
              <a:rPr lang="en-US" b="1" dirty="0" smtClean="0"/>
              <a:t>Fabricated information:</a:t>
            </a:r>
          </a:p>
          <a:p>
            <a:r>
              <a:rPr lang="en-US" dirty="0" smtClean="0"/>
              <a:t>This type of information is also found in abundance throughout the web, when an individual or a group of people want to deceive the masses </a:t>
            </a:r>
            <a:r>
              <a:rPr lang="en-US" dirty="0" smtClean="0"/>
              <a:t>on certain </a:t>
            </a:r>
            <a:r>
              <a:rPr lang="en-US" dirty="0" smtClean="0"/>
              <a:t>matter then they fabricate information, which in turn misguides the masses and then a chain of events that shouldn’t  occur start happening.</a:t>
            </a:r>
          </a:p>
          <a:p>
            <a:pPr marL="0" indent="0">
              <a:buNone/>
            </a:pPr>
            <a:r>
              <a:rPr lang="en-US" sz="2000" b="1" dirty="0" smtClean="0"/>
              <a:t>Reasons for fabricating information</a:t>
            </a:r>
          </a:p>
          <a:p>
            <a:r>
              <a:rPr lang="en-US" dirty="0" smtClean="0"/>
              <a:t> Misguiding the masses</a:t>
            </a:r>
          </a:p>
          <a:p>
            <a:r>
              <a:rPr lang="en-US" dirty="0" smtClean="0"/>
              <a:t>Cause social unrest by spreading fake news</a:t>
            </a:r>
          </a:p>
        </p:txBody>
      </p:sp>
    </p:spTree>
    <p:extLst>
      <p:ext uri="{BB962C8B-B14F-4D97-AF65-F5344CB8AC3E}">
        <p14:creationId xmlns:p14="http://schemas.microsoft.com/office/powerpoint/2010/main" val="2022638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r>
              <a:rPr lang="en-US" dirty="0" smtClean="0"/>
              <a:t>For political reasons</a:t>
            </a:r>
          </a:p>
          <a:p>
            <a:r>
              <a:rPr lang="en-US" dirty="0" smtClean="0"/>
              <a:t>Sometimes information is fabricated to save the masses from trauma, for example, hiding information on some mishap that will otherwise cause major unrest among the public if the masses knew about it.</a:t>
            </a:r>
          </a:p>
          <a:p>
            <a:r>
              <a:rPr lang="en-US" dirty="0" smtClean="0"/>
              <a:t>Just for mischief</a:t>
            </a:r>
          </a:p>
          <a:p>
            <a:pPr marL="0" indent="0">
              <a:buNone/>
            </a:pPr>
            <a:r>
              <a:rPr lang="en-US" b="1" dirty="0" smtClean="0"/>
              <a:t>Completely fake information:</a:t>
            </a:r>
          </a:p>
          <a:p>
            <a:pPr marL="0" indent="0">
              <a:buNone/>
            </a:pPr>
            <a:r>
              <a:rPr lang="en-US" dirty="0" smtClean="0"/>
              <a:t>This type of information is spread by normal users of the web, for example, one person will start forwarding fake news on social media and people will keep on sharing it.</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68160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Wisdom of the crowd</a:t>
            </a:r>
            <a:endParaRPr lang="en-US" dirty="0"/>
          </a:p>
        </p:txBody>
      </p:sp>
      <p:sp>
        <p:nvSpPr>
          <p:cNvPr id="3" name="Content Placeholder 2"/>
          <p:cNvSpPr>
            <a:spLocks noGrp="1"/>
          </p:cNvSpPr>
          <p:nvPr>
            <p:ph sz="quarter" idx="1"/>
          </p:nvPr>
        </p:nvSpPr>
        <p:spPr/>
        <p:txBody>
          <a:bodyPr/>
          <a:lstStyle/>
          <a:p>
            <a:pPr marL="0" lvl="0" indent="0">
              <a:buNone/>
            </a:pPr>
            <a:endParaRPr lang="en-US" b="1" dirty="0"/>
          </a:p>
          <a:p>
            <a:r>
              <a:rPr lang="en-US" dirty="0"/>
              <a:t> </a:t>
            </a:r>
            <a:r>
              <a:rPr lang="en-US" dirty="0" smtClean="0"/>
              <a:t>This </a:t>
            </a:r>
            <a:r>
              <a:rPr lang="en-US" dirty="0"/>
              <a:t>type of information is found in abundance on the </a:t>
            </a:r>
            <a:r>
              <a:rPr lang="en-US" dirty="0" smtClean="0"/>
              <a:t>web </a:t>
            </a:r>
          </a:p>
          <a:p>
            <a:r>
              <a:rPr lang="en-US" dirty="0"/>
              <a:t>I</a:t>
            </a:r>
            <a:r>
              <a:rPr lang="en-US" dirty="0" smtClean="0"/>
              <a:t>t </a:t>
            </a:r>
            <a:r>
              <a:rPr lang="en-US" dirty="0"/>
              <a:t>is most commonly found on forums and sometimes even Wikipedia because most of the information written on Wikipedia is written by </a:t>
            </a:r>
            <a:r>
              <a:rPr lang="en-US" dirty="0" smtClean="0"/>
              <a:t>commoners. </a:t>
            </a:r>
          </a:p>
          <a:p>
            <a:r>
              <a:rPr lang="en-US" dirty="0"/>
              <a:t>M</a:t>
            </a:r>
            <a:r>
              <a:rPr lang="en-US" dirty="0" smtClean="0"/>
              <a:t>ost </a:t>
            </a:r>
            <a:r>
              <a:rPr lang="en-US" dirty="0"/>
              <a:t>of the writers of Wikipedia are researchers or veterans of the field but sometimes a normal person who has incorrect information may write something on Wikipedia too which in the end will cause problems for a lot of people. </a:t>
            </a:r>
          </a:p>
          <a:p>
            <a:endParaRPr lang="en-US" dirty="0"/>
          </a:p>
        </p:txBody>
      </p:sp>
    </p:spTree>
    <p:extLst>
      <p:ext uri="{BB962C8B-B14F-4D97-AF65-F5344CB8AC3E}">
        <p14:creationId xmlns:p14="http://schemas.microsoft.com/office/powerpoint/2010/main" val="91760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endParaRPr lang="en-US" dirty="0" smtClean="0"/>
          </a:p>
          <a:p>
            <a:r>
              <a:rPr lang="en-US" dirty="0" smtClean="0"/>
              <a:t>In </a:t>
            </a:r>
            <a:r>
              <a:rPr lang="en-US" dirty="0"/>
              <a:t>general, wisdom of the crowd is considered as some information that an individual or a group of people believe to be true or correct. </a:t>
            </a:r>
            <a:endParaRPr lang="en-US" dirty="0" smtClean="0"/>
          </a:p>
          <a:p>
            <a:r>
              <a:rPr lang="en-US" dirty="0"/>
              <a:t>P</a:t>
            </a:r>
            <a:r>
              <a:rPr lang="en-US" dirty="0" smtClean="0"/>
              <a:t>eople </a:t>
            </a:r>
            <a:r>
              <a:rPr lang="en-US" dirty="0"/>
              <a:t>will unintentionally or intentionally write wrong information which will misguide and cause a lot of problems for a huge number of people on the web</a:t>
            </a:r>
            <a:r>
              <a:rPr lang="en-US" dirty="0" smtClean="0"/>
              <a:t>.</a:t>
            </a:r>
          </a:p>
          <a:p>
            <a:r>
              <a:rPr lang="en-US" dirty="0" smtClean="0"/>
              <a:t>People are often too sure about their knowledge and end up misguiding others. This mistake on the web can cause some serious damage.</a:t>
            </a:r>
            <a:endParaRPr lang="en-US" dirty="0"/>
          </a:p>
          <a:p>
            <a:pPr marL="0" indent="0">
              <a:buNone/>
            </a:pPr>
            <a:endParaRPr lang="en-US" dirty="0"/>
          </a:p>
        </p:txBody>
      </p:sp>
    </p:spTree>
    <p:extLst>
      <p:ext uri="{BB962C8B-B14F-4D97-AF65-F5344CB8AC3E}">
        <p14:creationId xmlns:p14="http://schemas.microsoft.com/office/powerpoint/2010/main" val="83908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avoid fake information sources?</a:t>
            </a:r>
            <a:endParaRPr lang="en-US" dirty="0"/>
          </a:p>
        </p:txBody>
      </p:sp>
      <p:sp>
        <p:nvSpPr>
          <p:cNvPr id="3" name="Content Placeholder 2"/>
          <p:cNvSpPr>
            <a:spLocks noGrp="1"/>
          </p:cNvSpPr>
          <p:nvPr>
            <p:ph sz="quarter" idx="1"/>
          </p:nvPr>
        </p:nvSpPr>
        <p:spPr/>
        <p:txBody>
          <a:bodyPr/>
          <a:lstStyle/>
          <a:p>
            <a:pPr lvl="0"/>
            <a:r>
              <a:rPr lang="en-US" dirty="0"/>
              <a:t>Check the ratings (not always reliable as they can be faked)</a:t>
            </a:r>
          </a:p>
          <a:p>
            <a:pPr lvl="0"/>
            <a:r>
              <a:rPr lang="en-US" dirty="0"/>
              <a:t>Check the amount of people that rely on that website for information</a:t>
            </a:r>
          </a:p>
          <a:p>
            <a:pPr lvl="0"/>
            <a:r>
              <a:rPr lang="en-US" dirty="0"/>
              <a:t>Check popularity of the source</a:t>
            </a:r>
          </a:p>
          <a:p>
            <a:pPr lvl="0"/>
            <a:r>
              <a:rPr lang="en-US" dirty="0"/>
              <a:t>Check the credibility of that source from Google</a:t>
            </a:r>
          </a:p>
          <a:p>
            <a:pPr lvl="0"/>
            <a:r>
              <a:rPr lang="en-US" dirty="0"/>
              <a:t>Read information from multiple sources</a:t>
            </a:r>
          </a:p>
          <a:p>
            <a:pPr lvl="0"/>
            <a:r>
              <a:rPr lang="en-US" dirty="0"/>
              <a:t>Check history of information or news accuracy and read reviews from users and also ask your friends whether they trust that source or not.</a:t>
            </a:r>
          </a:p>
          <a:p>
            <a:pPr marL="0" indent="0">
              <a:buNone/>
            </a:pPr>
            <a:endParaRPr lang="en-US" dirty="0"/>
          </a:p>
        </p:txBody>
      </p:sp>
    </p:spTree>
    <p:extLst>
      <p:ext uri="{BB962C8B-B14F-4D97-AF65-F5344CB8AC3E}">
        <p14:creationId xmlns:p14="http://schemas.microsoft.com/office/powerpoint/2010/main" val="1770457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pPr lvl="0"/>
            <a:r>
              <a:rPr lang="en-US" dirty="0"/>
              <a:t>Site operators should identify user supplied content</a:t>
            </a:r>
          </a:p>
          <a:p>
            <a:pPr lvl="0"/>
            <a:r>
              <a:rPr lang="en-US" dirty="0"/>
              <a:t>User supplied content should be reviewed</a:t>
            </a:r>
          </a:p>
          <a:p>
            <a:pPr lvl="0"/>
            <a:r>
              <a:rPr lang="en-US" dirty="0"/>
              <a:t>If user supplied content is deemed correct then it should be published on the website or at the very least it should be stated as wrong information, this exercise will discourage the people who leave wrong information on purpose</a:t>
            </a:r>
            <a:r>
              <a:rPr lang="en-US" dirty="0" smtClean="0"/>
              <a:t>.</a:t>
            </a:r>
          </a:p>
          <a:p>
            <a:pPr lvl="0"/>
            <a:r>
              <a:rPr lang="en-US" dirty="0" smtClean="0"/>
              <a:t>Keep a lookout on other information sources as well.</a:t>
            </a:r>
          </a:p>
          <a:p>
            <a:pPr lvl="0"/>
            <a:r>
              <a:rPr lang="en-US" dirty="0" smtClean="0"/>
              <a:t>Do not rely on just one source.</a:t>
            </a:r>
            <a:endParaRPr lang="en-US" dirty="0"/>
          </a:p>
          <a:p>
            <a:endParaRPr lang="en-US" dirty="0"/>
          </a:p>
        </p:txBody>
      </p:sp>
    </p:spTree>
    <p:extLst>
      <p:ext uri="{BB962C8B-B14F-4D97-AF65-F5344CB8AC3E}">
        <p14:creationId xmlns:p14="http://schemas.microsoft.com/office/powerpoint/2010/main" val="3025383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avoid unsafe websites?</a:t>
            </a:r>
            <a:endParaRPr lang="en-US" dirty="0"/>
          </a:p>
        </p:txBody>
      </p:sp>
      <p:sp>
        <p:nvSpPr>
          <p:cNvPr id="3" name="Content Placeholder 2"/>
          <p:cNvSpPr>
            <a:spLocks noGrp="1"/>
          </p:cNvSpPr>
          <p:nvPr>
            <p:ph sz="quarter" idx="1"/>
          </p:nvPr>
        </p:nvSpPr>
        <p:spPr/>
        <p:txBody>
          <a:bodyPr/>
          <a:lstStyle/>
          <a:p>
            <a:pPr lvl="0"/>
            <a:endParaRPr lang="en-US" dirty="0" smtClean="0"/>
          </a:p>
          <a:p>
            <a:pPr lvl="0"/>
            <a:r>
              <a:rPr lang="en-US" dirty="0" smtClean="0"/>
              <a:t>The </a:t>
            </a:r>
            <a:r>
              <a:rPr lang="en-US" dirty="0"/>
              <a:t>most basic security is provided by Google itself, check the URL of the site for https, if it is https and not http then it is safe, otherwise Google does not deem the website safe but it doesn’t necessarily mean the website is unsafe.</a:t>
            </a:r>
          </a:p>
          <a:p>
            <a:pPr lvl="0"/>
            <a:r>
              <a:rPr lang="en-US" dirty="0"/>
              <a:t>Use online antiviruses for web browsers; they will let you know if the website is unsafe.</a:t>
            </a:r>
          </a:p>
          <a:p>
            <a:pPr lvl="0"/>
            <a:r>
              <a:rPr lang="en-US" dirty="0"/>
              <a:t> Type the website name into search engine, if search shows cursory Google check mark in front of website then the website is dangerous.</a:t>
            </a:r>
          </a:p>
          <a:p>
            <a:pPr marL="0" indent="0">
              <a:buNone/>
            </a:pPr>
            <a:endParaRPr lang="en-US" dirty="0"/>
          </a:p>
        </p:txBody>
      </p:sp>
    </p:spTree>
    <p:extLst>
      <p:ext uri="{BB962C8B-B14F-4D97-AF65-F5344CB8AC3E}">
        <p14:creationId xmlns:p14="http://schemas.microsoft.com/office/powerpoint/2010/main" val="268972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pPr lvl="0"/>
            <a:endParaRPr lang="en-US" dirty="0" smtClean="0"/>
          </a:p>
          <a:p>
            <a:r>
              <a:rPr lang="en-US" dirty="0" smtClean="0"/>
              <a:t>Invasive </a:t>
            </a:r>
            <a:r>
              <a:rPr lang="en-US" dirty="0"/>
              <a:t>advertising is also a red alert that the website in question is not safe.</a:t>
            </a:r>
          </a:p>
          <a:p>
            <a:pPr lvl="0"/>
            <a:r>
              <a:rPr lang="en-US" dirty="0"/>
              <a:t>Check for green lock symbol on left side of URL that means it is safe to browse this website and your data will be safe</a:t>
            </a:r>
            <a:r>
              <a:rPr lang="en-US" dirty="0" smtClean="0"/>
              <a:t>.</a:t>
            </a:r>
          </a:p>
          <a:p>
            <a:pPr lvl="0"/>
            <a:r>
              <a:rPr lang="en-US" dirty="0" smtClean="0"/>
              <a:t>Modern browsers will automatically inform the users if some threat arises, so browsers should always be kept updated. These updates contain essential updated security from companies.</a:t>
            </a:r>
          </a:p>
          <a:p>
            <a:pPr lvl="0"/>
            <a:r>
              <a:rPr lang="en-US" dirty="0" smtClean="0"/>
              <a:t>Users should also keep their OS updated.</a:t>
            </a:r>
          </a:p>
          <a:p>
            <a:pPr marL="0" lvl="0" indent="0">
              <a:buNone/>
            </a:pPr>
            <a:endParaRPr lang="en-US" dirty="0"/>
          </a:p>
          <a:p>
            <a:endParaRPr lang="en-US" dirty="0"/>
          </a:p>
        </p:txBody>
      </p:sp>
    </p:spTree>
    <p:extLst>
      <p:ext uri="{BB962C8B-B14F-4D97-AF65-F5344CB8AC3E}">
        <p14:creationId xmlns:p14="http://schemas.microsoft.com/office/powerpoint/2010/main" val="2367873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Divide</a:t>
            </a:r>
            <a:endParaRPr lang="en-US" dirty="0"/>
          </a:p>
        </p:txBody>
      </p:sp>
      <p:sp>
        <p:nvSpPr>
          <p:cNvPr id="3" name="Content Placeholder 2"/>
          <p:cNvSpPr>
            <a:spLocks noGrp="1"/>
          </p:cNvSpPr>
          <p:nvPr>
            <p:ph sz="quarter" idx="1"/>
          </p:nvPr>
        </p:nvSpPr>
        <p:spPr/>
        <p:txBody>
          <a:bodyPr>
            <a:normAutofit/>
          </a:bodyPr>
          <a:lstStyle/>
          <a:p>
            <a:r>
              <a:rPr lang="en-US" dirty="0"/>
              <a:t> On one hand, technology is bringing people together through the services of web, people can video chat with people from around the world and all of this is possible due to the advancements in technology. </a:t>
            </a:r>
            <a:endParaRPr lang="en-US" dirty="0" smtClean="0"/>
          </a:p>
          <a:p>
            <a:r>
              <a:rPr lang="en-US" dirty="0" smtClean="0"/>
              <a:t>We </a:t>
            </a:r>
            <a:r>
              <a:rPr lang="en-US" dirty="0"/>
              <a:t>can even talk to professionals that otherwise won’t be possible</a:t>
            </a:r>
            <a:r>
              <a:rPr lang="en-US" dirty="0" smtClean="0"/>
              <a:t>.</a:t>
            </a:r>
          </a:p>
          <a:p>
            <a:r>
              <a:rPr lang="en-US" dirty="0"/>
              <a:t>The problem here is that with all the facilities and different levels and qualities of technologies there have also formed a digital divide among the masses. </a:t>
            </a:r>
          </a:p>
        </p:txBody>
      </p:sp>
    </p:spTree>
    <p:extLst>
      <p:ext uri="{BB962C8B-B14F-4D97-AF65-F5344CB8AC3E}">
        <p14:creationId xmlns:p14="http://schemas.microsoft.com/office/powerpoint/2010/main" val="3000835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normAutofit lnSpcReduction="10000"/>
          </a:bodyPr>
          <a:lstStyle/>
          <a:p>
            <a:r>
              <a:rPr lang="en-US" dirty="0"/>
              <a:t>Now, only the privileged can afford the latest and the greatest technology and on the other hand poor people still suffer from food shortage and lack of basic necessities. </a:t>
            </a:r>
            <a:endParaRPr lang="en-US" dirty="0" smtClean="0"/>
          </a:p>
          <a:p>
            <a:r>
              <a:rPr lang="en-US" dirty="0" smtClean="0"/>
              <a:t>People </a:t>
            </a:r>
            <a:r>
              <a:rPr lang="en-US" dirty="0"/>
              <a:t>are beginning to take initiatives to close this digital divide among the masses, </a:t>
            </a:r>
            <a:endParaRPr lang="en-US" dirty="0" smtClean="0"/>
          </a:p>
          <a:p>
            <a:r>
              <a:rPr lang="en-US" dirty="0"/>
              <a:t>N</a:t>
            </a:r>
            <a:r>
              <a:rPr lang="en-US" dirty="0" smtClean="0"/>
              <a:t>ow</a:t>
            </a:r>
            <a:r>
              <a:rPr lang="en-US" dirty="0"/>
              <a:t>, organizations are trying to provide computers and Internet to the poor countries so they can join the global society of the world as well and benefit from the immense amount of information that is available on the web. </a:t>
            </a:r>
            <a:endParaRPr lang="en-US" dirty="0" smtClean="0"/>
          </a:p>
          <a:p>
            <a:r>
              <a:rPr lang="en-US" dirty="0" smtClean="0"/>
              <a:t>Slowly </a:t>
            </a:r>
            <a:r>
              <a:rPr lang="en-US" dirty="0"/>
              <a:t>but surely, with the provision of technology, the level of service would also be improved for the masses.</a:t>
            </a:r>
          </a:p>
          <a:p>
            <a:endParaRPr lang="en-US" dirty="0"/>
          </a:p>
        </p:txBody>
      </p:sp>
    </p:spTree>
    <p:extLst>
      <p:ext uri="{BB962C8B-B14F-4D97-AF65-F5344CB8AC3E}">
        <p14:creationId xmlns:p14="http://schemas.microsoft.com/office/powerpoint/2010/main" val="2272611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 of technology on society</a:t>
            </a:r>
            <a:endParaRPr lang="en-US" dirty="0"/>
          </a:p>
        </p:txBody>
      </p:sp>
      <p:sp>
        <p:nvSpPr>
          <p:cNvPr id="3" name="Content Placeholder 2"/>
          <p:cNvSpPr>
            <a:spLocks noGrp="1"/>
          </p:cNvSpPr>
          <p:nvPr>
            <p:ph sz="quarter" idx="1"/>
          </p:nvPr>
        </p:nvSpPr>
        <p:spPr/>
        <p:txBody>
          <a:bodyPr/>
          <a:lstStyle/>
          <a:p>
            <a:pPr marL="0" indent="0">
              <a:buNone/>
            </a:pPr>
            <a:endParaRPr lang="en-US" dirty="0"/>
          </a:p>
          <a:p>
            <a:r>
              <a:rPr lang="en-US" dirty="0" smtClean="0"/>
              <a:t>With the introduction of so many tools, software and machines, it has become very easy to rely on them for even the most basic of tasks.</a:t>
            </a:r>
          </a:p>
          <a:p>
            <a:r>
              <a:rPr lang="en-US" dirty="0" smtClean="0"/>
              <a:t>Nowadays, students have started a habit of using calculators for even the most basic of calculations which in turn has dulled their minds.</a:t>
            </a:r>
          </a:p>
          <a:p>
            <a:r>
              <a:rPr lang="en-US" dirty="0" smtClean="0"/>
              <a:t>Yes it is true that technology has made our lives easier but our reliance on technology has caused human skill set to shrink. </a:t>
            </a:r>
            <a:endParaRPr lang="en-US" dirty="0"/>
          </a:p>
        </p:txBody>
      </p:sp>
    </p:spTree>
    <p:extLst>
      <p:ext uri="{BB962C8B-B14F-4D97-AF65-F5344CB8AC3E}">
        <p14:creationId xmlns:p14="http://schemas.microsoft.com/office/powerpoint/2010/main" val="3606444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Continued…</a:t>
            </a:r>
            <a:endParaRPr lang="en-US" b="1" dirty="0"/>
          </a:p>
        </p:txBody>
      </p:sp>
      <p:sp>
        <p:nvSpPr>
          <p:cNvPr id="3" name="Content Placeholder 2"/>
          <p:cNvSpPr>
            <a:spLocks noGrp="1"/>
          </p:cNvSpPr>
          <p:nvPr>
            <p:ph sz="quarter" idx="1"/>
          </p:nvPr>
        </p:nvSpPr>
        <p:spPr/>
        <p:txBody>
          <a:bodyPr/>
          <a:lstStyle/>
          <a:p>
            <a:pPr marL="0" indent="0">
              <a:buNone/>
            </a:pPr>
            <a:endParaRPr lang="en-US" dirty="0" smtClean="0"/>
          </a:p>
          <a:p>
            <a:r>
              <a:rPr lang="en-US" dirty="0" smtClean="0"/>
              <a:t>Nowadays, people will let computers decide for them, people have stopped thinking for themselves.</a:t>
            </a:r>
          </a:p>
          <a:p>
            <a:r>
              <a:rPr lang="en-US" dirty="0" smtClean="0"/>
              <a:t>People have somehow in their unconscious mind, have submitted to computers and have become heavily reliant on them.</a:t>
            </a:r>
          </a:p>
          <a:p>
            <a:r>
              <a:rPr lang="en-US" dirty="0" smtClean="0"/>
              <a:t>People have stopped believing in themselves and they think that only the decisions made by a computer or a machine are correct.</a:t>
            </a:r>
            <a:endParaRPr lang="en-US" dirty="0"/>
          </a:p>
        </p:txBody>
      </p:sp>
    </p:spTree>
    <p:extLst>
      <p:ext uri="{BB962C8B-B14F-4D97-AF65-F5344CB8AC3E}">
        <p14:creationId xmlns:p14="http://schemas.microsoft.com/office/powerpoint/2010/main" val="867161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 reliance on computers</a:t>
            </a:r>
            <a:endParaRPr lang="en-US" dirty="0"/>
          </a:p>
        </p:txBody>
      </p:sp>
      <p:sp>
        <p:nvSpPr>
          <p:cNvPr id="3" name="Content Placeholder 2"/>
          <p:cNvSpPr>
            <a:spLocks noGrp="1"/>
          </p:cNvSpPr>
          <p:nvPr>
            <p:ph sz="quarter" idx="1"/>
          </p:nvPr>
        </p:nvSpPr>
        <p:spPr/>
        <p:txBody>
          <a:bodyPr/>
          <a:lstStyle/>
          <a:p>
            <a:pPr marL="0" indent="0">
              <a:buNone/>
            </a:pPr>
            <a:endParaRPr lang="en-US" dirty="0" smtClean="0"/>
          </a:p>
          <a:p>
            <a:r>
              <a:rPr lang="en-US" dirty="0"/>
              <a:t>Nowadays, people will trust technology and computers more then they trust their close ones, and for that matter they will trust technology even more than themselves if they are too far gone. </a:t>
            </a:r>
            <a:endParaRPr lang="en-US" dirty="0" smtClean="0"/>
          </a:p>
          <a:p>
            <a:r>
              <a:rPr lang="en-US" dirty="0" smtClean="0"/>
              <a:t>For </a:t>
            </a:r>
            <a:r>
              <a:rPr lang="en-US" dirty="0"/>
              <a:t>us, if internet says something then that thing becomes our </a:t>
            </a:r>
            <a:r>
              <a:rPr lang="en-US" dirty="0" smtClean="0"/>
              <a:t>reality. </a:t>
            </a:r>
          </a:p>
          <a:p>
            <a:r>
              <a:rPr lang="en-US" dirty="0"/>
              <a:t>W</a:t>
            </a:r>
            <a:r>
              <a:rPr lang="en-US" dirty="0" smtClean="0"/>
              <a:t>e </a:t>
            </a:r>
            <a:r>
              <a:rPr lang="en-US" dirty="0"/>
              <a:t>have stopped pondering over things now we just accept whatever the Internet says and we just keep suppressing our imagination this way.</a:t>
            </a:r>
          </a:p>
          <a:p>
            <a:pPr marL="0" indent="0">
              <a:buNone/>
            </a:pPr>
            <a:endParaRPr lang="en-US" dirty="0"/>
          </a:p>
        </p:txBody>
      </p:sp>
    </p:spTree>
    <p:extLst>
      <p:ext uri="{BB962C8B-B14F-4D97-AF65-F5344CB8AC3E}">
        <p14:creationId xmlns:p14="http://schemas.microsoft.com/office/powerpoint/2010/main" val="36872143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633</TotalTime>
  <Words>1633</Words>
  <Application>Microsoft Office PowerPoint</Application>
  <PresentationFormat>On-screen Show (4:3)</PresentationFormat>
  <Paragraphs>96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Franklin Gothic Book</vt:lpstr>
      <vt:lpstr>Perpetua</vt:lpstr>
      <vt:lpstr>Wingdings 2</vt:lpstr>
      <vt:lpstr>Equity</vt:lpstr>
      <vt:lpstr> Evaluating information and technology. How to evaluate web sources</vt:lpstr>
      <vt:lpstr>INTRODUCTION</vt:lpstr>
      <vt:lpstr>Continued…. Importance of information </vt:lpstr>
      <vt:lpstr>Continued… Technology and information’s relation</vt:lpstr>
      <vt:lpstr>Continued…</vt:lpstr>
      <vt:lpstr>Judging Information on the web</vt:lpstr>
      <vt:lpstr>Continued… Types of information on the web</vt:lpstr>
      <vt:lpstr>Continued…</vt:lpstr>
      <vt:lpstr>Continued…</vt:lpstr>
      <vt:lpstr>Wisdom of the crowd</vt:lpstr>
      <vt:lpstr>Continued…</vt:lpstr>
      <vt:lpstr>How to avoid fake information sources?</vt:lpstr>
      <vt:lpstr>Continued…</vt:lpstr>
      <vt:lpstr>How to avoid unsafe websites?</vt:lpstr>
      <vt:lpstr>Continued…</vt:lpstr>
      <vt:lpstr>Digital Divide</vt:lpstr>
      <vt:lpstr>Continued…</vt:lpstr>
      <vt:lpstr>Effect of technology on society</vt:lpstr>
      <vt:lpstr>Continued…</vt:lpstr>
      <vt:lpstr>Over reliance on computers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Evaluating information and technology. How to evaluate web sources</dc:title>
  <dc:creator>Umair</dc:creator>
  <cp:lastModifiedBy>Usman Shehzaib</cp:lastModifiedBy>
  <cp:revision>34</cp:revision>
  <dcterms:created xsi:type="dcterms:W3CDTF">2006-08-16T00:00:00Z</dcterms:created>
  <dcterms:modified xsi:type="dcterms:W3CDTF">2021-12-01T05:49:50Z</dcterms:modified>
</cp:coreProperties>
</file>